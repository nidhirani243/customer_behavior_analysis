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Familjen Grotesk SemiBold"/>
      <p:regular r:id="rId201314"/>
    </p:embeddedFont>
    <p:embeddedFont>
      <p:font typeface="Work Sans"/>
      <p:regular r:id="rId201315"/>
    </p:embeddedFont>
    <p:embeddedFont>
      <p:font typeface="Work Sans SemiBold"/>
      <p:regular r:id="rId201316"/>
    </p:embeddedFont>
    <p:embeddedFont>
      <p:font typeface="Work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Subscribers averaged $59.49 versus $59.87 for non-subscribers. The subscription split is 27% subscribed and 73% did not.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D6EB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2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D6EB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219200"/>
            <a:ext cx="7619809" cy="2295922"/>
          </a:xfrm>
          <a:prstGeom prst="rect">
            <a:avLst/>
          </a:prstGeom>
          <a:solidFill>
            <a:srgbClr val="E9F5F9"/>
          </a:solidFill>
          <a:ln/>
        </p:spPr>
      </p:sp>
      <p:sp>
        <p:nvSpPr>
          <p:cNvPr id="3" name="Text 1"/>
          <p:cNvSpPr/>
          <p:nvPr/>
        </p:nvSpPr>
        <p:spPr>
          <a:xfrm>
            <a:off x="1015975" y="1574800"/>
            <a:ext cx="6807030" cy="1584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000" spc="-120" kern="1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Customer shopping behavior is loyal, broad, and promotion-sensitive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299042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THE BASELINE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03585"/>
            <a:ext cx="5689458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000" spc="-90" kern="1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3,900 purchases reveal a steady $59.76 average basket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4278114"/>
            <a:ext cx="5689458" cy="158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600" spc="-432" kern="100" dirty="0">
                <a:solidFill>
                  <a:srgbClr val="B8351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$59.76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609585" y="6059884"/>
            <a:ext cx="6299042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43586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Average purchase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908627" y="0"/>
            <a:ext cx="5283068" cy="6858000"/>
          </a:xfrm>
          <a:prstGeom prst="rect">
            <a:avLst/>
          </a:prstGeom>
          <a:solidFill>
            <a:srgbClr val="E9F5F9"/>
          </a:solidFill>
          <a:ln/>
        </p:spPr>
      </p:sp>
      <p:sp>
        <p:nvSpPr>
          <p:cNvPr id="7" name="Text 5"/>
          <p:cNvSpPr/>
          <p:nvPr/>
        </p:nvSpPr>
        <p:spPr>
          <a:xfrm>
            <a:off x="7264218" y="330200"/>
            <a:ext cx="492747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DATASET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64218" y="624185"/>
            <a:ext cx="457188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000" spc="-30" kern="1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Broad coverage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264218" y="1051520"/>
            <a:ext cx="4571886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321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3,900 purchases across 25 products, 4 categories, and 50 locations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264218" y="1816298"/>
            <a:ext cx="4571886" cy="31651"/>
          </a:xfrm>
          <a:prstGeom prst="roundRect">
            <a:avLst>
              <a:gd name="adj" fmla="val 49998"/>
            </a:avLst>
          </a:prstGeom>
          <a:solidFill>
            <a:srgbClr val="AFCBD8"/>
          </a:solidFill>
          <a:ln/>
        </p:spPr>
      </p:sp>
      <p:sp>
        <p:nvSpPr>
          <p:cNvPr id="11" name="Text 9"/>
          <p:cNvSpPr/>
          <p:nvPr/>
        </p:nvSpPr>
        <p:spPr>
          <a:xfrm>
            <a:off x="7264218" y="2071886"/>
            <a:ext cx="220974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000" spc="-30" kern="1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3.75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64218" y="2499221"/>
            <a:ext cx="2209745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1321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Average rating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26359" y="2071886"/>
            <a:ext cx="2209745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000" spc="-30" kern="1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37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626359" y="2499221"/>
            <a:ext cx="2209745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1321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Review ratings imputed by product category median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CATEGORY MIX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03585"/>
            <a:ext cx="1097252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000" spc="-90" kern="1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Clothing drives the business, with accessories close behind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96616"/>
            <a:ext cx="10972526" cy="64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321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Category performance is concentrated in clothing and accessories, creating a clear merchandising and campaign priority.</a:t>
            </a:r>
            <a:endParaRPr lang="en-US" sz="1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298105"/>
            <a:ext cx="10413739" cy="3708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299042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LOYALTY &amp; SUBSCRIPTION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03585"/>
            <a:ext cx="5689458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000" spc="-90" kern="1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Loyal customers dominate the base, but subscriptions lag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959570"/>
            <a:ext cx="5689458" cy="61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5600" spc="-252" kern="100" dirty="0">
                <a:solidFill>
                  <a:srgbClr val="B8351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3,116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09585" y="2784475"/>
            <a:ext cx="5689458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43586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Loyal customers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585" y="3563838"/>
            <a:ext cx="5689458" cy="61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5600" spc="-252" kern="1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701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09585" y="4388743"/>
            <a:ext cx="5689458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43586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Returning customers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585" y="5168106"/>
            <a:ext cx="5689458" cy="61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5600" spc="-252" kern="1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83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609585" y="5993011"/>
            <a:ext cx="5689458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43586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New customers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09585" y="3262114"/>
            <a:ext cx="5689458" cy="12700"/>
          </a:xfrm>
          <a:prstGeom prst="rect">
            <a:avLst/>
          </a:prstGeom>
          <a:solidFill>
            <a:srgbClr val="43586A"/>
          </a:solidFill>
          <a:ln/>
        </p:spPr>
      </p:sp>
      <p:sp>
        <p:nvSpPr>
          <p:cNvPr id="12" name="Shape 9"/>
          <p:cNvSpPr/>
          <p:nvPr/>
        </p:nvSpPr>
        <p:spPr>
          <a:xfrm>
            <a:off x="609585" y="4866382"/>
            <a:ext cx="5689458" cy="12700"/>
          </a:xfrm>
          <a:prstGeom prst="rect">
            <a:avLst/>
          </a:prstGeom>
          <a:solidFill>
            <a:srgbClr val="43586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PROMOTION RESPONSE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03585"/>
            <a:ext cx="1097252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000" spc="-90" kern="1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Discounts attract high-value shoppers, especially in selected products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96616"/>
            <a:ext cx="10972526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321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Discount users can still spend above average, but several products show discount rates near 50%, creating a margin-management opportunity.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333228"/>
            <a:ext cx="10413739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QUALITY SIGNAL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03585"/>
            <a:ext cx="1097252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000" spc="-90" kern="1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Product ratings point to a promotable quality tier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96616"/>
            <a:ext cx="11582110" cy="324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321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Use highly rated items to anchor campaigns and cross-sell into lower-frequency categories.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585" y="3518495"/>
            <a:ext cx="1950691" cy="1032669"/>
          </a:xfrm>
          <a:prstGeom prst="roundRect">
            <a:avLst>
              <a:gd name="adj" fmla="val 2767"/>
            </a:avLst>
          </a:prstGeom>
          <a:solidFill>
            <a:srgbClr val="E9F5F9"/>
          </a:solidFill>
          <a:ln/>
        </p:spPr>
      </p:sp>
      <p:sp>
        <p:nvSpPr>
          <p:cNvPr id="6" name="Text 4"/>
          <p:cNvSpPr/>
          <p:nvPr/>
        </p:nvSpPr>
        <p:spPr>
          <a:xfrm>
            <a:off x="787380" y="3721695"/>
            <a:ext cx="159510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000" spc="-30" kern="100" dirty="0">
                <a:solidFill>
                  <a:srgbClr val="B8351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3.86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7380" y="4120455"/>
            <a:ext cx="1595100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600" spc="-24" kern="1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Gloves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64969" y="3518495"/>
            <a:ext cx="1950691" cy="1032669"/>
          </a:xfrm>
          <a:prstGeom prst="roundRect">
            <a:avLst>
              <a:gd name="adj" fmla="val 2767"/>
            </a:avLst>
          </a:prstGeom>
          <a:solidFill>
            <a:srgbClr val="E9F5F9"/>
          </a:solidFill>
          <a:ln/>
        </p:spPr>
      </p:sp>
      <p:sp>
        <p:nvSpPr>
          <p:cNvPr id="9" name="Text 7"/>
          <p:cNvSpPr/>
          <p:nvPr/>
        </p:nvSpPr>
        <p:spPr>
          <a:xfrm>
            <a:off x="3042765" y="3721695"/>
            <a:ext cx="159510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000" spc="-30" kern="100" dirty="0">
                <a:solidFill>
                  <a:srgbClr val="B8351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3.84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042765" y="4120455"/>
            <a:ext cx="1595100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600" spc="-24" kern="1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Sandals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120353" y="3518495"/>
            <a:ext cx="1950889" cy="1032669"/>
          </a:xfrm>
          <a:prstGeom prst="roundRect">
            <a:avLst>
              <a:gd name="adj" fmla="val 2767"/>
            </a:avLst>
          </a:prstGeom>
          <a:solidFill>
            <a:srgbClr val="E9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5298149" y="3721695"/>
            <a:ext cx="1595298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000" spc="-30" kern="100" dirty="0">
                <a:solidFill>
                  <a:srgbClr val="B8351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3.82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98149" y="4120455"/>
            <a:ext cx="1595298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600" spc="-24" kern="1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Boots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75936" y="3518495"/>
            <a:ext cx="1950691" cy="1032669"/>
          </a:xfrm>
          <a:prstGeom prst="roundRect">
            <a:avLst>
              <a:gd name="adj" fmla="val 2767"/>
            </a:avLst>
          </a:prstGeom>
          <a:solidFill>
            <a:srgbClr val="E9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7553731" y="3721695"/>
            <a:ext cx="159510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000" spc="-30" kern="100" dirty="0">
                <a:solidFill>
                  <a:srgbClr val="B8351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3.80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553731" y="4120455"/>
            <a:ext cx="1595100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600" spc="-24" kern="1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Hat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31320" y="3518495"/>
            <a:ext cx="1950790" cy="1032669"/>
          </a:xfrm>
          <a:prstGeom prst="roundRect">
            <a:avLst>
              <a:gd name="adj" fmla="val 2767"/>
            </a:avLst>
          </a:prstGeom>
          <a:solidFill>
            <a:srgbClr val="E9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9809116" y="3721695"/>
            <a:ext cx="1595199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000" spc="-30" kern="100" dirty="0">
                <a:solidFill>
                  <a:srgbClr val="B8351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3.78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809116" y="4120455"/>
            <a:ext cx="1595199" cy="227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1600" spc="-24" kern="1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Skirt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CUSTOMER VALUE BY 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03585"/>
            <a:ext cx="10972526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000" spc="-90" kern="1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Young adults lead revenue, but every age group contributes meaningfully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873746"/>
            <a:ext cx="10413739" cy="406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CONVERSION OPPORTUNITY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03585"/>
            <a:ext cx="1097252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000" spc="-90" kern="1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Shipping and repeat buying suggest room to improve conversion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699915"/>
            <a:ext cx="631174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000" spc="-30" kern="1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Express shipping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2127250"/>
            <a:ext cx="631174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321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Speed and convenience are visible value signals.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73723" y="1699915"/>
            <a:ext cx="4508387" cy="61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5600" spc="-252" kern="100" dirty="0">
                <a:solidFill>
                  <a:srgbClr val="B83519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$60.48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7073723" y="2524820"/>
            <a:ext cx="4508387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43586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Average purchase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09585" y="2827635"/>
            <a:ext cx="10972526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43586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Standard shipping average purchase: $58.46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585" y="3573959"/>
            <a:ext cx="6311742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000" spc="-30" kern="1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Repeat buyers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9585" y="4001294"/>
            <a:ext cx="6311742" cy="270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321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3,476 customers had more than five purchases.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73723" y="3725267"/>
            <a:ext cx="4508387" cy="61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5600" spc="-252" kern="1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958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7073723" y="4550172"/>
            <a:ext cx="4508387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spc="5" kern="100" dirty="0">
                <a:solidFill>
                  <a:srgbClr val="43586A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Were subscribers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9585" y="5447903"/>
            <a:ext cx="10972526" cy="649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321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Make speed and convenience more visible at checkout, then test whether benefits convert loyal repeat buyers into subscribers.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9585" y="3364409"/>
            <a:ext cx="10972526" cy="12700"/>
          </a:xfrm>
          <a:prstGeom prst="rect">
            <a:avLst/>
          </a:prstGeom>
          <a:solidFill>
            <a:srgbClr val="43586A"/>
          </a:solidFill>
          <a:ln/>
        </p:spPr>
      </p:sp>
      <p:sp>
        <p:nvSpPr>
          <p:cNvPr id="15" name="Shape 13"/>
          <p:cNvSpPr/>
          <p:nvPr/>
        </p:nvSpPr>
        <p:spPr>
          <a:xfrm>
            <a:off x="609585" y="5086945"/>
            <a:ext cx="10972526" cy="12700"/>
          </a:xfrm>
          <a:prstGeom prst="rect">
            <a:avLst/>
          </a:prstGeom>
          <a:solidFill>
            <a:srgbClr val="43586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ACTION FRAMEWORK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03585"/>
            <a:ext cx="10972526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000" spc="-90" kern="1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Turn loyalty into subscription value, not just repeat orders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502966"/>
            <a:ext cx="81000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43586A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585" y="1769666"/>
            <a:ext cx="2400240" cy="19050"/>
          </a:xfrm>
          <a:prstGeom prst="rect">
            <a:avLst/>
          </a:prstGeom>
          <a:solidFill>
            <a:srgbClr val="AFCBD8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1903016"/>
            <a:ext cx="240024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000" spc="-30" kern="1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Boost subscriptions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2330351"/>
            <a:ext cx="2400240" cy="1081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321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Package exclusive benefits around convenience, access, and shipping.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67013" y="1502966"/>
            <a:ext cx="843338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43586A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67013" y="1769666"/>
            <a:ext cx="2400240" cy="19050"/>
          </a:xfrm>
          <a:prstGeom prst="rect">
            <a:avLst/>
          </a:prstGeom>
          <a:solidFill>
            <a:srgbClr val="AFCBD8"/>
          </a:solidFill>
          <a:ln/>
        </p:spPr>
      </p:sp>
      <p:sp>
        <p:nvSpPr>
          <p:cNvPr id="10" name="Text 8"/>
          <p:cNvSpPr/>
          <p:nvPr/>
        </p:nvSpPr>
        <p:spPr>
          <a:xfrm>
            <a:off x="3467013" y="1903016"/>
            <a:ext cx="240024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000" spc="-30" kern="1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Protect margin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67013" y="2330351"/>
            <a:ext cx="2400240" cy="1081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321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Review discount depth on high-discount products and target offers more selectively.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24442" y="1502966"/>
            <a:ext cx="84065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43586A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24442" y="1769666"/>
            <a:ext cx="2400240" cy="19050"/>
          </a:xfrm>
          <a:prstGeom prst="rect">
            <a:avLst/>
          </a:prstGeom>
          <a:solidFill>
            <a:srgbClr val="AFCBD8"/>
          </a:solidFill>
          <a:ln/>
        </p:spPr>
      </p:sp>
      <p:sp>
        <p:nvSpPr>
          <p:cNvPr id="14" name="Text 12"/>
          <p:cNvSpPr/>
          <p:nvPr/>
        </p:nvSpPr>
        <p:spPr>
          <a:xfrm>
            <a:off x="6324442" y="1903016"/>
            <a:ext cx="2400240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000" spc="-30" kern="1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Merchandise the winners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24442" y="2614811"/>
            <a:ext cx="2400240" cy="1081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321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Feature clothing, accessories, and top-rated products in campaigns.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81870" y="1502966"/>
            <a:ext cx="85137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43586A"/>
                </a:solidFill>
                <a:latin typeface="Work Sans SemiBold" pitchFamily="34" charset="0"/>
                <a:ea typeface="Work Sans SemiBold" pitchFamily="34" charset="-122"/>
                <a:cs typeface="Work Sans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81870" y="1769666"/>
            <a:ext cx="2400240" cy="19050"/>
          </a:xfrm>
          <a:prstGeom prst="rect">
            <a:avLst/>
          </a:prstGeom>
          <a:solidFill>
            <a:srgbClr val="AFCBD8"/>
          </a:solidFill>
          <a:ln/>
        </p:spPr>
      </p:sp>
      <p:sp>
        <p:nvSpPr>
          <p:cNvPr id="18" name="Text 16"/>
          <p:cNvSpPr/>
          <p:nvPr/>
        </p:nvSpPr>
        <p:spPr>
          <a:xfrm>
            <a:off x="9181870" y="1903016"/>
            <a:ext cx="2400240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2000" spc="-30" kern="100" dirty="0">
                <a:solidFill>
                  <a:srgbClr val="13212B"/>
                </a:solidFill>
                <a:latin typeface="Familjen Grotesk SemiBold" pitchFamily="34" charset="0"/>
                <a:ea typeface="Familjen Grotesk SemiBold" pitchFamily="34" charset="-122"/>
                <a:cs typeface="Familjen Grotesk SemiBold" pitchFamily="34" charset="-120"/>
              </a:rPr>
              <a:t>Target the growth pockets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81870" y="2614811"/>
            <a:ext cx="2400240" cy="811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13212B"/>
                </a:solidFill>
                <a:latin typeface="Work Sans" pitchFamily="34" charset="0"/>
                <a:ea typeface="Work Sans" pitchFamily="34" charset="-122"/>
                <a:cs typeface="Work Sans" pitchFamily="34" charset="-120"/>
              </a:rPr>
              <a:t>Prioritize young adults while tailoring offers for the other age groups.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2026-10-05T14:02:19Z</dcterms:created>
  <dcterms:modified xsi:type="dcterms:W3CDTF">2026-10-05T14:02:19Z</dcterms:modified>
</cp:coreProperties>
</file>